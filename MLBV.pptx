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0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C2DEA-5129-430C-89D1-095B4DD12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AEA75-3AB3-4003-B294-E776BF3BA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4354D-9CDF-4594-932B-0724E3D30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084D1-B443-4CBC-A06C-BC6D34110FA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72E12-68D1-4BB6-804C-DB9F7BBE6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5B824-2F4C-4663-B35A-DE5AC372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64958-C625-4F68-8313-B1FDA2BD9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C22CB-C3C2-48B6-9AB0-734E0BD5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18E46-9D97-4152-845F-D128CE232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0E21F-887C-4681-8B3B-0EB062349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084D1-B443-4CBC-A06C-BC6D34110FA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53397-59B2-4D7C-9C71-A66677D56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FBD8B-D787-4B2B-BFD5-60DB947B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64958-C625-4F68-8313-B1FDA2BD9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7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3BC7C-907F-4572-B74D-E9DCAA151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592B1-01A8-4088-8919-10968F869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421BC-3804-4661-8DD5-6ADD31C5A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084D1-B443-4CBC-A06C-BC6D34110FA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540F5-B131-49AF-BE6F-6028CA139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0904F-CC8E-4D0A-88C3-F4AEE002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64958-C625-4F68-8313-B1FDA2BD9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77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38D8F-CEB4-4B50-8C4A-D0621311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92ECE-5DA1-46A0-B4CF-549E380E1F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240B1-ED17-4710-A538-C81CE1084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93AA7-7893-4F08-9A53-C6AC5D96E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084D1-B443-4CBC-A06C-BC6D34110FA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C1CF0-4A6B-4587-9422-24433EF20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8F1FF-70EC-4EF0-B3FF-8D746846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64958-C625-4F68-8313-B1FDA2BD9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66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E77F-FFAA-4B98-BB4F-A56F24044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49670-8FB0-483C-A071-FD0509158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5DEC3-61B8-4596-8790-AD7BCC9CE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C9B48E-6080-4AD3-9AF2-17C78A080D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829D74-690D-44C7-AB5C-404C27C82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B799A8-0FF8-4BAC-9592-521B1D84E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084D1-B443-4CBC-A06C-BC6D34110FA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A02C73-9C88-4A62-8E33-2A5B39171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8FE41F-1DB6-4A73-ACCD-F0040328E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64958-C625-4F68-8313-B1FDA2BD9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928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A8D42-9682-4C48-AB68-486396FD9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C1B47F-D0C6-488D-A3A7-F9C048F31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084D1-B443-4CBC-A06C-BC6D34110FA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30358-7688-4CB0-AFFC-14A25221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C2762-0719-49BF-ACB7-CBAAC708A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64958-C625-4F68-8313-B1FDA2BD9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671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AC815-50B5-491B-BFB8-837685566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084D1-B443-4CBC-A06C-BC6D34110FA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07DD18-E02B-49D7-A476-393F40E4F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9F2B3-2977-4BD0-BB62-CB1F66916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64958-C625-4F68-8313-B1FDA2BD9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777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C1D3A-6A97-4AFA-ABE3-2AF09C5DE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0161E-5394-489D-8A5A-676352512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0EB2C-D6ED-4B03-9FD0-EF8CC8FD7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9DCBA-5582-4A84-90EF-A2CACB543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084D1-B443-4CBC-A06C-BC6D34110FA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68296-8651-4772-BB91-C803864A9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AE769-8EFF-4DA9-8531-D4CD97E2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64958-C625-4F68-8313-B1FDA2BD9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29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0F4D4-8911-41CD-89BC-ACF55BA17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4AF8B0-7373-4A37-802B-DE0A3463EC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C0BC1-79CD-4963-A62A-B98852AEB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0F272-7618-470F-9B9D-9B6406C4D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084D1-B443-4CBC-A06C-BC6D34110FA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2B1C6-0BD0-4B28-98D8-8741D45AE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9D192-B22D-45B7-A936-CB4C284F9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64958-C625-4F68-8313-B1FDA2BD9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594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6A238-CB0D-4F2F-AB24-BD27D9ABB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68CC7C-6039-4AF3-B77F-57BC43B7F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CEFDD-95AA-48E2-9047-0C9119483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084D1-B443-4CBC-A06C-BC6D34110FA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DB56A-ECC5-4F9F-8E43-E88011B33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0CE68-7370-4677-81A8-D14C87409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64958-C625-4F68-8313-B1FDA2BD9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30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512259-678B-44DB-BA7A-7C91E68408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AB556-D415-4207-9429-24A8299D5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876D0-F2E0-486F-80C6-25297220A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084D1-B443-4CBC-A06C-BC6D34110FA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3F268-E97F-41D1-BBFB-ACF0516A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5D205-92C0-4674-96F0-DB61E18E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64958-C625-4F68-8313-B1FDA2BD9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0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F92F8-E80E-4140-9FB5-C2E34326C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0A8B9-66BD-43BC-BC4A-C824091C8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4E9BE-AB2A-4617-8492-16DFB4C205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084D1-B443-4CBC-A06C-BC6D34110FA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8920F-2D57-42C1-9C3C-7D3F384BC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DF476-9755-4BF9-8CC8-163F9BB73C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64958-C625-4F68-8313-B1FDA2BD9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74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760E1D-77EB-46E7-BBD7-D0D2A8D3B6C4}"/>
              </a:ext>
            </a:extLst>
          </p:cNvPr>
          <p:cNvSpPr txBox="1"/>
          <p:nvPr/>
        </p:nvSpPr>
        <p:spPr>
          <a:xfrm>
            <a:off x="1937409" y="2379851"/>
            <a:ext cx="83171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36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Dự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36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đoán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36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36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cả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36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36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xe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36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hơi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(RF)</a:t>
            </a:r>
            <a:endParaRPr lang="en-US" sz="3600" b="0" dirty="0">
              <a:effectLst/>
            </a:endParaRPr>
          </a:p>
          <a:p>
            <a:br>
              <a:rPr lang="en-US" sz="3600" dirty="0"/>
            </a:b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2395A-F292-4A83-BAB0-3E719F7EF6C8}"/>
              </a:ext>
            </a:extLst>
          </p:cNvPr>
          <p:cNvSpPr txBox="1"/>
          <p:nvPr/>
        </p:nvSpPr>
        <p:spPr>
          <a:xfrm>
            <a:off x="2857501" y="4623943"/>
            <a:ext cx="60950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vi-V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Giảng viên hướng dẫn: PGS.TS Nguyễn Văn Hậu</a:t>
            </a:r>
            <a:endParaRPr lang="vi-VN" b="0" dirty="0">
              <a:effectLst/>
            </a:endParaRPr>
          </a:p>
          <a:p>
            <a:br>
              <a:rPr lang="vi-VN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CF869F-2573-47EA-A718-71E083AA220D}"/>
              </a:ext>
            </a:extLst>
          </p:cNvPr>
          <p:cNvSpPr txBox="1"/>
          <p:nvPr/>
        </p:nvSpPr>
        <p:spPr>
          <a:xfrm>
            <a:off x="3697183" y="3498732"/>
            <a:ext cx="47976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vi-VN" dirty="0"/>
            </a:br>
            <a:r>
              <a:rPr lang="vi-V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Người trình bày: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Lê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Nguyễ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Thái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Dương</a:t>
            </a:r>
            <a:endParaRPr lang="vi-VN" b="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564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58F253-149B-47B5-B498-0288F00610B5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 err="1"/>
              <a:t>Nội</a:t>
            </a:r>
            <a:r>
              <a:rPr lang="en-US" sz="2800" dirty="0"/>
              <a:t> Dung </a:t>
            </a:r>
            <a:r>
              <a:rPr lang="en-US" sz="2800" dirty="0" err="1"/>
              <a:t>Thuyết</a:t>
            </a:r>
            <a:r>
              <a:rPr lang="en-US" sz="2800" dirty="0"/>
              <a:t> </a:t>
            </a:r>
            <a:r>
              <a:rPr lang="en-US" sz="2800" dirty="0" err="1"/>
              <a:t>Trình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9F6B7-0ACB-4F92-8E72-C0849B6DB1F0}"/>
              </a:ext>
            </a:extLst>
          </p:cNvPr>
          <p:cNvSpPr txBox="1"/>
          <p:nvPr/>
        </p:nvSpPr>
        <p:spPr>
          <a:xfrm>
            <a:off x="64791" y="740044"/>
            <a:ext cx="609797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AutoNum type="romanUcPeriod"/>
            </a:pPr>
            <a:r>
              <a:rPr lang="en-US" sz="3200" dirty="0" err="1"/>
              <a:t>Tổng</a:t>
            </a:r>
            <a:r>
              <a:rPr lang="en-US" sz="3200" dirty="0"/>
              <a:t> Quan </a:t>
            </a:r>
            <a:r>
              <a:rPr lang="en-US" sz="3200" dirty="0" err="1"/>
              <a:t>Bài</a:t>
            </a:r>
            <a:r>
              <a:rPr lang="en-US" sz="3200" dirty="0"/>
              <a:t> </a:t>
            </a:r>
            <a:r>
              <a:rPr lang="en-US" sz="3200" dirty="0" err="1"/>
              <a:t>Toán</a:t>
            </a:r>
            <a:endParaRPr lang="en-US" sz="3200" dirty="0"/>
          </a:p>
          <a:p>
            <a:pPr marL="400050" indent="-400050">
              <a:buAutoNum type="romanUcPeriod"/>
            </a:pPr>
            <a:endParaRPr lang="en-US" sz="3200" dirty="0"/>
          </a:p>
          <a:p>
            <a:pPr marL="400050" indent="-400050">
              <a:buAutoNum type="romanUcPeriod"/>
            </a:pPr>
            <a:r>
              <a:rPr lang="en-US" sz="3200" dirty="0" err="1"/>
              <a:t>Mô</a:t>
            </a:r>
            <a:r>
              <a:rPr lang="en-US" sz="3200" dirty="0"/>
              <a:t> </a:t>
            </a:r>
            <a:r>
              <a:rPr lang="en-US" sz="3200" dirty="0" err="1"/>
              <a:t>Hình</a:t>
            </a:r>
            <a:r>
              <a:rPr lang="en-US" sz="3200" dirty="0"/>
              <a:t> </a:t>
            </a:r>
            <a:r>
              <a:rPr lang="en-US" sz="3200" dirty="0" err="1"/>
              <a:t>Học</a:t>
            </a:r>
            <a:r>
              <a:rPr lang="en-US" sz="3200" dirty="0"/>
              <a:t> </a:t>
            </a:r>
            <a:r>
              <a:rPr lang="en-US" sz="3200" dirty="0" err="1"/>
              <a:t>Máy</a:t>
            </a:r>
            <a:endParaRPr lang="en-US" sz="3200" dirty="0"/>
          </a:p>
          <a:p>
            <a:pPr marL="400050" indent="-400050">
              <a:buAutoNum type="romanUcPeriod"/>
            </a:pPr>
            <a:endParaRPr lang="en-US" sz="3200" dirty="0"/>
          </a:p>
          <a:p>
            <a:pPr marL="400050" indent="-400050">
              <a:buAutoNum type="romanUcPeriod"/>
            </a:pPr>
            <a:r>
              <a:rPr lang="en-US" sz="3200" dirty="0" err="1"/>
              <a:t>Cài</a:t>
            </a:r>
            <a:r>
              <a:rPr lang="en-US" sz="3200" dirty="0"/>
              <a:t> </a:t>
            </a:r>
            <a:r>
              <a:rPr lang="en-US" sz="3200" dirty="0" err="1"/>
              <a:t>Đặt</a:t>
            </a:r>
            <a:r>
              <a:rPr lang="en-US" sz="3200" dirty="0"/>
              <a:t> </a:t>
            </a:r>
            <a:r>
              <a:rPr lang="en-US" sz="3200" dirty="0" err="1"/>
              <a:t>Mô</a:t>
            </a:r>
            <a:r>
              <a:rPr lang="en-US" sz="3200" dirty="0"/>
              <a:t> </a:t>
            </a:r>
            <a:r>
              <a:rPr lang="en-US" sz="3200" dirty="0" err="1"/>
              <a:t>Hình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43857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F6AC73-F91F-4E95-B692-BA3929822031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I. </a:t>
            </a:r>
            <a:r>
              <a:rPr lang="en-US" sz="2800" dirty="0" err="1"/>
              <a:t>Tổng</a:t>
            </a:r>
            <a:r>
              <a:rPr lang="en-US" sz="2800" dirty="0"/>
              <a:t> Quan </a:t>
            </a:r>
            <a:r>
              <a:rPr lang="en-US" sz="2800" dirty="0" err="1"/>
              <a:t>Bài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440EF-ECDB-48D5-8BE7-0055E723C50D}"/>
              </a:ext>
            </a:extLst>
          </p:cNvPr>
          <p:cNvSpPr txBox="1"/>
          <p:nvPr/>
        </p:nvSpPr>
        <p:spPr>
          <a:xfrm>
            <a:off x="87272" y="825335"/>
            <a:ext cx="52323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Trong lĩnh vực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bán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cũ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hay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bảo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hiểm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hơi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thì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việc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dự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đoán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cả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hơi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sẽ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giúp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bán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tiết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kiệm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tiền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khi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hoặc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nhập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cũ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cũng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như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giúp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công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ty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bảo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hiểm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có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xác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định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chính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xác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chiếc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thỏa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thuận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đồng</a:t>
            </a:r>
            <a:r>
              <a:rPr lang="vi-V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vi-VN" sz="1800" b="0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49540B-F7A8-4A8B-B7BA-D32D53E75B66}"/>
              </a:ext>
            </a:extLst>
          </p:cNvPr>
          <p:cNvSpPr txBox="1"/>
          <p:nvPr/>
        </p:nvSpPr>
        <p:spPr>
          <a:xfrm>
            <a:off x="87272" y="2505670"/>
            <a:ext cx="51115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Bài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toán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dự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đoán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xe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là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1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bài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toán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học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máy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có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giám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sát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lấy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dự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đã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gán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nhãn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và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đưa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ra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dự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đoán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về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cả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</a:t>
            </a:r>
            <a:endParaRPr lang="vi-VN" sz="1800" b="0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  <a:p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EE5281-849C-4E0C-B40E-7A367439B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548" y="847666"/>
            <a:ext cx="9399880" cy="490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937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172D5-6825-4BB2-B52F-19CD25EF3C9B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II. </a:t>
            </a:r>
            <a:r>
              <a:rPr lang="en-US" sz="2800" dirty="0" err="1"/>
              <a:t>Mô</a:t>
            </a:r>
            <a:r>
              <a:rPr lang="en-US" sz="2800" dirty="0"/>
              <a:t> </a:t>
            </a:r>
            <a:r>
              <a:rPr lang="en-US" sz="2800" dirty="0" err="1"/>
              <a:t>hình</a:t>
            </a:r>
            <a:r>
              <a:rPr lang="en-US" sz="2800" dirty="0"/>
              <a:t> </a:t>
            </a:r>
            <a:r>
              <a:rPr lang="en-US" sz="2800" dirty="0" err="1"/>
              <a:t>học</a:t>
            </a:r>
            <a:r>
              <a:rPr lang="en-US" sz="2800" dirty="0"/>
              <a:t> </a:t>
            </a:r>
            <a:r>
              <a:rPr lang="en-US" sz="2800" dirty="0" err="1"/>
              <a:t>máy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A6897-9C2D-4758-8CE2-BD0F55DD8CA8}"/>
              </a:ext>
            </a:extLst>
          </p:cNvPr>
          <p:cNvSpPr txBox="1"/>
          <p:nvPr/>
        </p:nvSpPr>
        <p:spPr>
          <a:xfrm>
            <a:off x="73268" y="807077"/>
            <a:ext cx="76298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mô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</a:t>
            </a:r>
            <a:r>
              <a:rPr lang="en-US" sz="2000" dirty="0" err="1"/>
              <a:t>học</a:t>
            </a:r>
            <a:r>
              <a:rPr lang="en-US" sz="2000" dirty="0"/>
              <a:t> </a:t>
            </a:r>
            <a:r>
              <a:rPr lang="en-US" sz="2000" dirty="0" err="1"/>
              <a:t>máy</a:t>
            </a:r>
            <a:r>
              <a:rPr lang="en-US" sz="2000" dirty="0"/>
              <a:t> </a:t>
            </a:r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bài</a:t>
            </a:r>
            <a:r>
              <a:rPr lang="en-US" sz="2000" dirty="0"/>
              <a:t> </a:t>
            </a:r>
            <a:r>
              <a:rPr lang="en-US" sz="2000" dirty="0" err="1"/>
              <a:t>toán</a:t>
            </a:r>
            <a:r>
              <a:rPr lang="en-US" sz="2000" dirty="0"/>
              <a:t>:</a:t>
            </a:r>
          </a:p>
          <a:p>
            <a:r>
              <a:rPr lang="en-US" sz="2000" dirty="0"/>
              <a:t>- Random Forest</a:t>
            </a:r>
          </a:p>
        </p:txBody>
      </p:sp>
    </p:spTree>
    <p:extLst>
      <p:ext uri="{BB962C8B-B14F-4D97-AF65-F5344CB8AC3E}">
        <p14:creationId xmlns:p14="http://schemas.microsoft.com/office/powerpoint/2010/main" val="119990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F1AF46-9A8B-43F0-BEC7-404C7C638ECE}"/>
              </a:ext>
            </a:extLst>
          </p:cNvPr>
          <p:cNvSpPr txBox="1"/>
          <p:nvPr/>
        </p:nvSpPr>
        <p:spPr>
          <a:xfrm>
            <a:off x="0" y="7564"/>
            <a:ext cx="1219200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Random Forest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23FC46-1F5D-4CA3-AF2C-4627E884AAE0}"/>
              </a:ext>
            </a:extLst>
          </p:cNvPr>
          <p:cNvSpPr txBox="1"/>
          <p:nvPr/>
        </p:nvSpPr>
        <p:spPr>
          <a:xfrm>
            <a:off x="457200" y="825335"/>
            <a:ext cx="115190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vi-V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Định nghĩa: Random Forest là một thuật toán học tập hợp (Ensemble Learning), được sử dụng cho cả bài toán phân loại (classification) và hồi quy (regression).</a:t>
            </a:r>
            <a:endParaRPr lang="vi-VN" b="0" dirty="0">
              <a:effectLst/>
            </a:endParaRPr>
          </a:p>
          <a:p>
            <a:br>
              <a:rPr lang="vi-VN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BA67A1-6A99-42FA-B89D-53542779D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372" y="1937658"/>
            <a:ext cx="619125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94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58B80D-8B53-4D84-8E0D-8176C6A91A21}"/>
              </a:ext>
            </a:extLst>
          </p:cNvPr>
          <p:cNvSpPr txBox="1"/>
          <p:nvPr/>
        </p:nvSpPr>
        <p:spPr>
          <a:xfrm>
            <a:off x="263312" y="812452"/>
            <a:ext cx="85917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Các</a:t>
            </a:r>
            <a:r>
              <a:rPr lang="en-US" sz="2800" dirty="0"/>
              <a:t> Metrics </a:t>
            </a:r>
            <a:r>
              <a:rPr lang="en-US" sz="2800" dirty="0" err="1"/>
              <a:t>đánh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R-Squared (R2)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 Absolute Error (MAE)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Root Mean Squared Error (RMSE)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2BF1EE-996B-4C8E-8A9F-7CF9BDB31D8B}"/>
              </a:ext>
            </a:extLst>
          </p:cNvPr>
          <p:cNvSpPr txBox="1"/>
          <p:nvPr/>
        </p:nvSpPr>
        <p:spPr>
          <a:xfrm>
            <a:off x="0" y="7564"/>
            <a:ext cx="1219200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Metrics </a:t>
            </a:r>
            <a:r>
              <a:rPr lang="en-US" sz="2800" dirty="0" err="1"/>
              <a:t>đánh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97195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3BCD79-CBC1-4A06-B113-0EF206275CF0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III. </a:t>
            </a:r>
            <a:r>
              <a:rPr lang="en-US" sz="2800" dirty="0" err="1"/>
              <a:t>Cài</a:t>
            </a:r>
            <a:r>
              <a:rPr lang="en-US" sz="2800" dirty="0"/>
              <a:t> </a:t>
            </a:r>
            <a:r>
              <a:rPr lang="en-US" sz="2800" dirty="0" err="1"/>
              <a:t>đặt</a:t>
            </a:r>
            <a:r>
              <a:rPr lang="en-US" sz="2800" dirty="0"/>
              <a:t> </a:t>
            </a:r>
            <a:r>
              <a:rPr lang="en-US" sz="2800" dirty="0" err="1"/>
              <a:t>mô</a:t>
            </a:r>
            <a:r>
              <a:rPr lang="en-US" sz="2800" dirty="0"/>
              <a:t> </a:t>
            </a:r>
            <a:r>
              <a:rPr lang="en-US" sz="2800" dirty="0" err="1"/>
              <a:t>hình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E2666B-BE1C-402B-93E4-A8C6415DB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4462"/>
            <a:ext cx="12192000" cy="14583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FE0BC0-FF95-496A-868D-276138515577}"/>
              </a:ext>
            </a:extLst>
          </p:cNvPr>
          <p:cNvSpPr txBox="1"/>
          <p:nvPr/>
        </p:nvSpPr>
        <p:spPr>
          <a:xfrm>
            <a:off x="5361709" y="2826328"/>
            <a:ext cx="5611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41C065-4512-4BA6-828C-E70E5A322B93}"/>
              </a:ext>
            </a:extLst>
          </p:cNvPr>
          <p:cNvSpPr txBox="1"/>
          <p:nvPr/>
        </p:nvSpPr>
        <p:spPr>
          <a:xfrm>
            <a:off x="2416628" y="3354779"/>
            <a:ext cx="8134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https://www.kaggle.com/datasets/deepcontractor/car-price-prediction-challenge</a:t>
            </a:r>
          </a:p>
        </p:txBody>
      </p:sp>
    </p:spTree>
    <p:extLst>
      <p:ext uri="{BB962C8B-B14F-4D97-AF65-F5344CB8AC3E}">
        <p14:creationId xmlns:p14="http://schemas.microsoft.com/office/powerpoint/2010/main" val="3796611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F34AEE-6A2C-4210-933D-D84B633EE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71" y="1915019"/>
            <a:ext cx="6791325" cy="4476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D95640-3A8B-4006-A9C6-172DD36BA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548" y="2192667"/>
            <a:ext cx="4791075" cy="3743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97FB37-7930-4842-9CBD-905E9E87D3F1}"/>
              </a:ext>
            </a:extLst>
          </p:cNvPr>
          <p:cNvSpPr txBox="1"/>
          <p:nvPr/>
        </p:nvSpPr>
        <p:spPr>
          <a:xfrm>
            <a:off x="878773" y="1217694"/>
            <a:ext cx="7635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: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cân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nặng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outliears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mạnh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69F62F-5F23-4474-BA45-9555CBE5467C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tích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49425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9362A4-F342-415F-9E88-661114280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144" y="706582"/>
            <a:ext cx="6599712" cy="54448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6DEEEE-5B2E-4CA4-A39B-30D893876253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tích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0349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6DE022-EC04-4972-93A5-7D31A82BF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675" y="1618849"/>
            <a:ext cx="7599218" cy="50491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2C6C5B-6A5B-4A39-8330-80D838FCBBC2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tích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65284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C8953C-510F-4BBE-A1A9-FBB14041E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899" y="1582742"/>
            <a:ext cx="7934201" cy="52752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54D63B-46E9-4F21-8D37-3828EEBF895E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tích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86099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12F731-B144-4B5C-8202-05FEBB78A45B}"/>
              </a:ext>
            </a:extLst>
          </p:cNvPr>
          <p:cNvSpPr txBox="1"/>
          <p:nvPr/>
        </p:nvSpPr>
        <p:spPr>
          <a:xfrm>
            <a:off x="552203" y="1104405"/>
            <a:ext cx="4459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Feature </a:t>
            </a:r>
            <a:r>
              <a:rPr lang="en-US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Scalling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012D30-EB85-4060-980A-941291C8667A}"/>
              </a:ext>
            </a:extLst>
          </p:cNvPr>
          <p:cNvSpPr txBox="1"/>
          <p:nvPr/>
        </p:nvSpPr>
        <p:spPr>
          <a:xfrm>
            <a:off x="552203" y="1886025"/>
            <a:ext cx="43285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Standardization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là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kỹ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thuật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điều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chỉnh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trong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đó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trung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bình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0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lệch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chuẩn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. 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3074" name="Picture 2" descr="Which Feature Scaling Technique To Use- Standardization vs Normalization |  Towards AI">
            <a:extLst>
              <a:ext uri="{FF2B5EF4-FFF2-40B4-BE49-F238E27FC236}">
                <a16:creationId xmlns:a16="http://schemas.microsoft.com/office/drawing/2014/main" id="{C1B25A27-6929-4CE1-A915-1C8AD9D32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03" y="3363353"/>
            <a:ext cx="2533650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43B4EF-4ABF-44E3-8C3C-46F07069A62C}"/>
              </a:ext>
            </a:extLst>
          </p:cNvPr>
          <p:cNvSpPr txBox="1"/>
          <p:nvPr/>
        </p:nvSpPr>
        <p:spPr>
          <a:xfrm>
            <a:off x="6671953" y="1609026"/>
            <a:ext cx="432855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1F1F1F"/>
                </a:solidFill>
                <a:latin typeface="Arial" panose="020B0604020202020204" pitchFamily="34" charset="0"/>
              </a:rPr>
              <a:t>One hot Encoding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vi-VN" dirty="0"/>
              <a:t>là phương pháp biến đổi dữ liệu dạng phân loại (categorical) thành các vector nhị phân.</a:t>
            </a:r>
            <a:br>
              <a:rPr lang="vi-VN" dirty="0"/>
            </a:br>
            <a:r>
              <a:rPr lang="vi-VN" dirty="0"/>
              <a:t>Mỗi giá trị trong một cột sẽ được biểu diễn bằng </a:t>
            </a:r>
            <a:r>
              <a:rPr lang="vi-VN" b="1" dirty="0"/>
              <a:t>một cột mới</a:t>
            </a:r>
            <a:r>
              <a:rPr lang="vi-VN" dirty="0"/>
              <a:t>, với giá trị </a:t>
            </a:r>
            <a:r>
              <a:rPr lang="vi-VN" b="1" dirty="0"/>
              <a:t>1</a:t>
            </a:r>
            <a:r>
              <a:rPr lang="vi-VN" dirty="0"/>
              <a:t> tại vị trí tương ứng và </a:t>
            </a:r>
            <a:r>
              <a:rPr lang="vi-VN" b="1" dirty="0"/>
              <a:t>0</a:t>
            </a:r>
            <a:r>
              <a:rPr lang="vi-VN" dirty="0"/>
              <a:t> ở các vị trí còn lại.</a:t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 descr="Building a One Hot Encoding Layer with TensorFlow | by George Novack | TDS  Archive | Medium">
            <a:extLst>
              <a:ext uri="{FF2B5EF4-FFF2-40B4-BE49-F238E27FC236}">
                <a16:creationId xmlns:a16="http://schemas.microsoft.com/office/drawing/2014/main" id="{799E50A4-79B4-4BDA-86FA-5BDAA958D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154" y="3640351"/>
            <a:ext cx="6349559" cy="178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667B5B-9BA6-40D1-8279-544BE0167114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 err="1"/>
              <a:t>Tiền</a:t>
            </a:r>
            <a:r>
              <a:rPr lang="en-US" sz="2800" dirty="0"/>
              <a:t> </a:t>
            </a:r>
            <a:r>
              <a:rPr lang="en-US" sz="2800" dirty="0" err="1"/>
              <a:t>xử</a:t>
            </a:r>
            <a:r>
              <a:rPr lang="en-US" sz="2800" dirty="0"/>
              <a:t> </a:t>
            </a:r>
            <a:r>
              <a:rPr lang="en-US" sz="2800" dirty="0" err="1"/>
              <a:t>lý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23168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945EADB-EFCB-4FEA-A1F9-0DCABFC900C8}"/>
              </a:ext>
            </a:extLst>
          </p:cNvPr>
          <p:cNvSpPr txBox="1"/>
          <p:nvPr/>
        </p:nvSpPr>
        <p:spPr>
          <a:xfrm>
            <a:off x="5064826" y="3657600"/>
            <a:ext cx="5593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Forest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0C06F7-FDFD-4251-B003-B6EA44EAF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9876"/>
            <a:ext cx="12192000" cy="18691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F64441-CB5C-400C-B2D4-E5586C935D90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III. </a:t>
            </a:r>
            <a:r>
              <a:rPr lang="en-US" sz="2800" dirty="0" err="1"/>
              <a:t>Cài</a:t>
            </a:r>
            <a:r>
              <a:rPr lang="en-US" sz="2800" dirty="0"/>
              <a:t> </a:t>
            </a:r>
            <a:r>
              <a:rPr lang="en-US" sz="2800" dirty="0" err="1"/>
              <a:t>đặt</a:t>
            </a:r>
            <a:r>
              <a:rPr lang="en-US" sz="2800" dirty="0"/>
              <a:t> </a:t>
            </a:r>
            <a:r>
              <a:rPr lang="en-US" sz="2800" dirty="0" err="1"/>
              <a:t>mô</a:t>
            </a:r>
            <a:r>
              <a:rPr lang="en-US" sz="2800" dirty="0"/>
              <a:t> </a:t>
            </a:r>
            <a:r>
              <a:rPr lang="en-US" sz="2800" dirty="0" err="1"/>
              <a:t>hình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69827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A3DA7D-2854-409E-85D9-AEE62901E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180" y="2571630"/>
            <a:ext cx="5839640" cy="17147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356080-88B0-4DC5-9DAC-D288C732A94C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 err="1"/>
              <a:t>Đánh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mô</a:t>
            </a:r>
            <a:r>
              <a:rPr lang="en-US" sz="2800" dirty="0"/>
              <a:t> </a:t>
            </a:r>
            <a:r>
              <a:rPr lang="en-US" sz="2800"/>
              <a:t>hình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47932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Thank You For Listening , Png Download - Thank You For Listening,  Transparent Png , Transparent Png Image - PNGitem">
            <a:extLst>
              <a:ext uri="{FF2B5EF4-FFF2-40B4-BE49-F238E27FC236}">
                <a16:creationId xmlns:a16="http://schemas.microsoft.com/office/drawing/2014/main" id="{34F5FC1D-60CC-41D7-A294-3FAD4512A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303" y="1650784"/>
            <a:ext cx="8475394" cy="3556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755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392</Words>
  <Application>Microsoft Office PowerPoint</Application>
  <PresentationFormat>Widescreen</PresentationFormat>
  <Paragraphs>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Noto Sans Symbols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thaiduongpc70@gmail.com</dc:creator>
  <cp:lastModifiedBy>thaiduongpc70@gmail.com</cp:lastModifiedBy>
  <cp:revision>10</cp:revision>
  <dcterms:created xsi:type="dcterms:W3CDTF">2025-12-07T16:03:28Z</dcterms:created>
  <dcterms:modified xsi:type="dcterms:W3CDTF">2025-12-29T00:16:59Z</dcterms:modified>
</cp:coreProperties>
</file>